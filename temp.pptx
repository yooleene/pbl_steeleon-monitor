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notesMasterIdLst>
    <p:notesMasterId r:id="rId3"/>
  </p:notesMasterIdLst>
  <p:handoutMasterIdLst>
    <p:handoutMasterId r:id="rId4"/>
  </p:handoutMasterIdLst>
  <p:sldIdLst>
    <p:sldId id="707" r:id="rId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2" userDrawn="1">
          <p15:clr>
            <a:srgbClr val="A4A3A4"/>
          </p15:clr>
        </p15:guide>
        <p15:guide id="3" pos="5978" userDrawn="1">
          <p15:clr>
            <a:srgbClr val="A4A3A4"/>
          </p15:clr>
        </p15:guide>
        <p15:guide id="5" orient="horz" pos="391" userDrawn="1">
          <p15:clr>
            <a:srgbClr val="A4A3A4"/>
          </p15:clr>
        </p15:guide>
        <p15:guide id="6" pos="308" userDrawn="1">
          <p15:clr>
            <a:srgbClr val="A4A3A4"/>
          </p15:clr>
        </p15:guide>
        <p15:guide id="7" pos="3120" userDrawn="1">
          <p15:clr>
            <a:srgbClr val="A4A3A4"/>
          </p15:clr>
        </p15:guide>
        <p15:guide id="8" pos="1895" userDrawn="1">
          <p15:clr>
            <a:srgbClr val="A4A3A4"/>
          </p15:clr>
        </p15:guide>
        <p15:guide id="9" orient="horz" pos="2478" userDrawn="1">
          <p15:clr>
            <a:srgbClr val="A4A3A4"/>
          </p15:clr>
        </p15:guide>
        <p15:guide id="10" pos="6114" userDrawn="1">
          <p15:clr>
            <a:srgbClr val="A4A3A4"/>
          </p15:clr>
        </p15:guide>
        <p15:guide id="11" pos="3075" userDrawn="1">
          <p15:clr>
            <a:srgbClr val="A4A3A4"/>
          </p15:clr>
        </p15:guide>
        <p15:guide id="12" pos="3165" userDrawn="1">
          <p15:clr>
            <a:srgbClr val="A4A3A4"/>
          </p15:clr>
        </p15:guide>
        <p15:guide id="13" pos="126" userDrawn="1">
          <p15:clr>
            <a:srgbClr val="A4A3A4"/>
          </p15:clr>
        </p15:guide>
        <p15:guide id="14" pos="226" userDrawn="1">
          <p15:clr>
            <a:srgbClr val="A4A3A4"/>
          </p15:clr>
        </p15:guide>
        <p15:guide id="15" pos="3211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orient="horz" pos="2704" userDrawn="1">
          <p15:clr>
            <a:srgbClr val="A4A3A4"/>
          </p15:clr>
        </p15:guide>
        <p15:guide id="18" orient="horz" pos="17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003399"/>
    <a:srgbClr val="0000CC"/>
    <a:srgbClr val="002060"/>
    <a:srgbClr val="A5A5A5"/>
    <a:srgbClr val="ED7D31"/>
    <a:srgbClr val="5B9BD5"/>
    <a:srgbClr val="00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0" autoAdjust="0"/>
    <p:restoredTop sz="96441" autoAdjust="0"/>
  </p:normalViewPr>
  <p:slideViewPr>
    <p:cSldViewPr>
      <p:cViewPr varScale="1">
        <p:scale>
          <a:sx n="127" d="100"/>
          <a:sy n="127" d="100"/>
        </p:scale>
        <p:origin x="2016" y="192"/>
      </p:cViewPr>
      <p:guideLst>
        <p:guide pos="172"/>
        <p:guide pos="5978"/>
        <p:guide orient="horz" pos="391"/>
        <p:guide pos="308"/>
        <p:guide pos="3120"/>
        <p:guide pos="1895"/>
        <p:guide orient="horz" pos="2478"/>
        <p:guide pos="6114"/>
        <p:guide pos="3075"/>
        <p:guide pos="3165"/>
        <p:guide pos="126"/>
        <p:guide pos="226"/>
        <p:guide pos="3211"/>
        <p:guide orient="horz" pos="4247"/>
        <p:guide orient="horz" pos="2704"/>
        <p:guide orient="horz" pos="17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39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7864F-CF84-4122-842E-2DDC650BA94D}" type="datetimeFigureOut">
              <a:rPr lang="ko-KR" altLang="en-US" smtClean="0"/>
              <a:pPr/>
              <a:t>2026. 5. 28.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90A35-804D-41F5-9B9F-9A2284DEC1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439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222DB-0F32-4D26-85B1-4B117E6E62D1}" type="datetimeFigureOut">
              <a:rPr lang="ko-KR" altLang="en-US" smtClean="0"/>
              <a:pPr/>
              <a:t>2026. 5. 28.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4A185-1A1F-4F14-9294-5D4826FF02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07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ko-KR" dirty="0"/>
              <a:t>* </a:t>
            </a:r>
            <a:r>
              <a:rPr lang="ko-KR" altLang="en-US" dirty="0" err="1"/>
              <a:t>총탄화수소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가스상태</a:t>
            </a:r>
            <a:r>
              <a:rPr lang="ko-KR" altLang="en-US" dirty="0"/>
              <a:t> 물질 중 총 탄화수소는 탄소와 수소로 결합한 휘발성 유기화합물</a:t>
            </a:r>
            <a:r>
              <a:rPr lang="en-US" altLang="ko-KR" dirty="0"/>
              <a:t>(VOCs)</a:t>
            </a:r>
            <a:r>
              <a:rPr lang="ko-KR" altLang="en-US" dirty="0"/>
              <a:t>를 포함한 모든 유기화학물을 총칭하는 말</a:t>
            </a: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ko-KR" dirty="0"/>
              <a:t>  2000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월에 처음 대기오염물질로 지정</a:t>
            </a:r>
            <a:r>
              <a:rPr lang="en-US" altLang="ko-KR" dirty="0"/>
              <a:t>, </a:t>
            </a:r>
            <a:r>
              <a:rPr lang="ko-KR" altLang="en-US" dirty="0"/>
              <a:t>당시 배출허용기준이 설정된 시설은 </a:t>
            </a:r>
            <a:r>
              <a:rPr lang="ko-KR" altLang="en-US" dirty="0" err="1"/>
              <a:t>도장시설</a:t>
            </a:r>
            <a:r>
              <a:rPr lang="ko-KR" altLang="en-US" dirty="0"/>
              <a:t> 및 그 부속 </a:t>
            </a:r>
            <a:r>
              <a:rPr lang="ko-KR" altLang="en-US" dirty="0" err="1"/>
              <a:t>건조시설이었으나</a:t>
            </a:r>
            <a:r>
              <a:rPr lang="ko-KR" altLang="en-US" dirty="0"/>
              <a:t> 지금은 인쇄시설</a:t>
            </a:r>
            <a:r>
              <a:rPr lang="en-US" altLang="ko-KR" dirty="0"/>
              <a:t>, </a:t>
            </a:r>
            <a:r>
              <a:rPr lang="ko-KR" altLang="en-US" dirty="0"/>
              <a:t>시멘트 제조시설 중 </a:t>
            </a:r>
            <a:r>
              <a:rPr lang="ko-KR" altLang="en-US" dirty="0" err="1"/>
              <a:t>소성시설도</a:t>
            </a:r>
            <a:r>
              <a:rPr lang="ko-KR" altLang="en-US" dirty="0"/>
              <a:t> </a:t>
            </a:r>
            <a:r>
              <a:rPr lang="ko-KR" altLang="en-US" dirty="0" err="1"/>
              <a:t>적용받음</a:t>
            </a: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ko-KR" dirty="0"/>
              <a:t>* 10</a:t>
            </a:r>
            <a:r>
              <a:rPr lang="ko-KR" altLang="en-US" dirty="0"/>
              <a:t>월 인건비 증가 </a:t>
            </a:r>
            <a:r>
              <a:rPr lang="en-US" altLang="ko-KR" dirty="0"/>
              <a:t>: +2345</a:t>
            </a:r>
            <a:r>
              <a:rPr lang="ko-KR" altLang="en-US" dirty="0"/>
              <a:t>백만원</a:t>
            </a:r>
            <a:r>
              <a:rPr lang="en-US" altLang="ko-KR" dirty="0"/>
              <a:t>(</a:t>
            </a:r>
            <a:r>
              <a:rPr lang="ko-KR" altLang="en-US" dirty="0"/>
              <a:t>제조 </a:t>
            </a:r>
            <a:r>
              <a:rPr lang="en-US" altLang="ko-KR" dirty="0"/>
              <a:t>1149, </a:t>
            </a:r>
            <a:r>
              <a:rPr lang="ko-KR" altLang="en-US" dirty="0"/>
              <a:t>판관 </a:t>
            </a:r>
            <a:r>
              <a:rPr lang="en-US" altLang="ko-KR" dirty="0"/>
              <a:t>1195)</a:t>
            </a:r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 err="1"/>
              <a:t>명퇴금</a:t>
            </a:r>
            <a:r>
              <a:rPr lang="ko-KR" altLang="en-US" dirty="0"/>
              <a:t> </a:t>
            </a:r>
            <a:r>
              <a:rPr lang="en-US" altLang="ko-KR" dirty="0"/>
              <a:t>: 930</a:t>
            </a:r>
            <a:r>
              <a:rPr lang="ko-KR" altLang="en-US" dirty="0">
                <a:solidFill>
                  <a:srgbClr val="FF0000"/>
                </a:solidFill>
              </a:rPr>
              <a:t>백만원</a:t>
            </a:r>
            <a:r>
              <a:rPr lang="en-US" altLang="ko-KR" dirty="0"/>
              <a:t>(</a:t>
            </a:r>
            <a:r>
              <a:rPr lang="ko-KR" altLang="en-US" dirty="0"/>
              <a:t>제조 </a:t>
            </a:r>
            <a:r>
              <a:rPr lang="en-US" altLang="ko-KR" dirty="0"/>
              <a:t>192, </a:t>
            </a:r>
            <a:r>
              <a:rPr lang="ko-KR" altLang="en-US" dirty="0"/>
              <a:t>판관 </a:t>
            </a:r>
            <a:r>
              <a:rPr lang="en-US" altLang="ko-KR" dirty="0"/>
              <a:t>738)</a:t>
            </a:r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/>
              <a:t>상품권 지급 </a:t>
            </a:r>
            <a:r>
              <a:rPr lang="en-US" altLang="ko-KR" dirty="0"/>
              <a:t>: 206</a:t>
            </a:r>
            <a:r>
              <a:rPr lang="ko-KR" altLang="en-US" dirty="0"/>
              <a:t>백만원</a:t>
            </a:r>
            <a:r>
              <a:rPr lang="en-US" altLang="ko-KR" dirty="0"/>
              <a:t>(</a:t>
            </a:r>
            <a:r>
              <a:rPr lang="ko-KR" altLang="en-US" dirty="0"/>
              <a:t>제조 </a:t>
            </a:r>
            <a:r>
              <a:rPr lang="en-US" altLang="ko-KR" dirty="0"/>
              <a:t>139, </a:t>
            </a:r>
            <a:r>
              <a:rPr lang="ko-KR" altLang="en-US" dirty="0">
                <a:solidFill>
                  <a:srgbClr val="FF0000"/>
                </a:solidFill>
              </a:rPr>
              <a:t>판관 </a:t>
            </a:r>
            <a:r>
              <a:rPr lang="en-US" altLang="ko-KR" dirty="0">
                <a:solidFill>
                  <a:srgbClr val="FF0000"/>
                </a:solidFill>
              </a:rPr>
              <a:t>67), </a:t>
            </a:r>
            <a:r>
              <a:rPr lang="ko-KR" altLang="en-US" dirty="0"/>
              <a:t>판관</a:t>
            </a:r>
            <a:r>
              <a:rPr lang="en-US" altLang="ko-KR" dirty="0"/>
              <a:t>_</a:t>
            </a:r>
            <a:r>
              <a:rPr lang="ko-KR" altLang="en-US" dirty="0"/>
              <a:t>복리후생비</a:t>
            </a:r>
            <a:r>
              <a:rPr lang="en-US" altLang="ko-KR" dirty="0"/>
              <a:t>_</a:t>
            </a:r>
            <a:r>
              <a:rPr lang="ko-KR" altLang="en-US" dirty="0" err="1"/>
              <a:t>기념품지급</a:t>
            </a: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/>
              <a:t>격려금 </a:t>
            </a:r>
            <a:r>
              <a:rPr lang="en-US" altLang="ko-KR" dirty="0"/>
              <a:t>: 1209</a:t>
            </a:r>
            <a:r>
              <a:rPr lang="ko-KR" altLang="en-US" dirty="0"/>
              <a:t>백만원</a:t>
            </a:r>
            <a:r>
              <a:rPr lang="en-US" altLang="ko-KR" dirty="0"/>
              <a:t>(</a:t>
            </a:r>
            <a:r>
              <a:rPr lang="ko-KR" altLang="en-US" dirty="0"/>
              <a:t>제조 </a:t>
            </a:r>
            <a:r>
              <a:rPr lang="en-US" altLang="ko-KR" dirty="0"/>
              <a:t>819, </a:t>
            </a:r>
            <a:r>
              <a:rPr lang="ko-KR" altLang="en-US" dirty="0"/>
              <a:t>판관 </a:t>
            </a:r>
            <a:r>
              <a:rPr lang="en-US" altLang="ko-KR" dirty="0"/>
              <a:t>390)</a:t>
            </a:r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ko-KR" dirty="0"/>
              <a:t>  . </a:t>
            </a:r>
            <a:r>
              <a:rPr lang="ko-KR" altLang="en-US" dirty="0"/>
              <a:t>경영계획에</a:t>
            </a:r>
            <a:r>
              <a:rPr lang="ko-KR" altLang="en-US" baseline="0" dirty="0"/>
              <a:t> 임금인상 </a:t>
            </a:r>
            <a:r>
              <a:rPr lang="en-US" altLang="ko-KR" baseline="0" dirty="0"/>
              <a:t>5</a:t>
            </a:r>
            <a:r>
              <a:rPr lang="ko-KR" altLang="en-US" baseline="0" dirty="0"/>
              <a:t>억 기 반영</a:t>
            </a: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ko-KR" dirty="0"/>
              <a:t>* 11</a:t>
            </a:r>
            <a:r>
              <a:rPr lang="ko-KR" altLang="en-US" dirty="0"/>
              <a:t>월 증가 </a:t>
            </a:r>
            <a:r>
              <a:rPr lang="en-US" altLang="ko-KR" dirty="0"/>
              <a:t>: 708</a:t>
            </a:r>
            <a:r>
              <a:rPr lang="ko-KR" altLang="en-US" dirty="0"/>
              <a:t>백만원</a:t>
            </a:r>
            <a:endParaRPr lang="en-US" altLang="ko-KR" dirty="0"/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 err="1"/>
              <a:t>베이스업</a:t>
            </a:r>
            <a:r>
              <a:rPr lang="ko-KR" altLang="en-US" dirty="0"/>
              <a:t> </a:t>
            </a:r>
            <a:r>
              <a:rPr lang="en-US" altLang="ko-KR" dirty="0"/>
              <a:t>2.5% </a:t>
            </a:r>
            <a:r>
              <a:rPr lang="ko-KR" altLang="en-US" dirty="0"/>
              <a:t>인건비 소급 </a:t>
            </a:r>
            <a:r>
              <a:rPr lang="en-US" altLang="ko-KR" dirty="0"/>
              <a:t>708</a:t>
            </a:r>
            <a:r>
              <a:rPr lang="ko-KR" altLang="en-US" dirty="0"/>
              <a:t>백만원</a:t>
            </a:r>
            <a:r>
              <a:rPr lang="en-US" altLang="ko-KR" dirty="0"/>
              <a:t>(</a:t>
            </a:r>
            <a:r>
              <a:rPr lang="ko-KR" altLang="en-US" dirty="0"/>
              <a:t>제조 </a:t>
            </a:r>
            <a:r>
              <a:rPr lang="en-US" altLang="ko-KR" dirty="0"/>
              <a:t>456, </a:t>
            </a:r>
            <a:r>
              <a:rPr lang="ko-KR" altLang="en-US" dirty="0"/>
              <a:t>판관 </a:t>
            </a:r>
            <a:r>
              <a:rPr lang="en-US" altLang="ko-KR" dirty="0"/>
              <a:t>252)</a:t>
            </a:r>
          </a:p>
          <a:p>
            <a:pPr defTabSz="914211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21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21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6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B4C9-A394-4C8A-8B12-B5AC8751FC59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2026. 5. 28.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44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5" r:id="rId2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5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7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0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82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5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8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4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6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9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1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0" y="-1600"/>
            <a:ext cx="9906000" cy="52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F0638C8-9186-4B24-33EA-F180F477F569}"/>
              </a:ext>
            </a:extLst>
          </p:cNvPr>
          <p:cNvCxnSpPr/>
          <p:nvPr/>
        </p:nvCxnSpPr>
        <p:spPr>
          <a:xfrm>
            <a:off x="4950436" y="1152699"/>
            <a:ext cx="0" cy="56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0D78C69-B2F4-A984-F87F-10910B3DD191}"/>
              </a:ext>
            </a:extLst>
          </p:cNvPr>
          <p:cNvCxnSpPr/>
          <p:nvPr/>
        </p:nvCxnSpPr>
        <p:spPr>
          <a:xfrm>
            <a:off x="207756" y="1069064"/>
            <a:ext cx="9569657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923E04-C534-6EBC-24FA-55BD98A55D26}"/>
              </a:ext>
            </a:extLst>
          </p:cNvPr>
          <p:cNvSpPr txBox="1"/>
          <p:nvPr/>
        </p:nvSpPr>
        <p:spPr>
          <a:xfrm>
            <a:off x="0" y="620688"/>
            <a:ext cx="990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5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t>○ ○ ○ ○ ○ ○</a:t>
            </a:r>
          </a:p>
        </p:txBody>
      </p:sp>
      <p:cxnSp>
        <p:nvCxnSpPr>
          <p:cNvPr id="9" name="직선 연결선 4">
            <a:extLst>
              <a:ext uri="{FF2B5EF4-FFF2-40B4-BE49-F238E27FC236}">
                <a16:creationId xmlns:a16="http://schemas.microsoft.com/office/drawing/2014/main" id="{3FA89223-6095-F400-8D97-E41CFB75DC17}"/>
              </a:ext>
            </a:extLst>
          </p:cNvPr>
          <p:cNvCxnSpPr/>
          <p:nvPr/>
        </p:nvCxnSpPr>
        <p:spPr>
          <a:xfrm>
            <a:off x="4950436" y="1255251"/>
            <a:ext cx="0" cy="56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5">
            <a:extLst>
              <a:ext uri="{FF2B5EF4-FFF2-40B4-BE49-F238E27FC236}">
                <a16:creationId xmlns:a16="http://schemas.microsoft.com/office/drawing/2014/main" id="{BA9390D1-A925-4DF5-813C-852854957AC1}"/>
              </a:ext>
            </a:extLst>
          </p:cNvPr>
          <p:cNvCxnSpPr/>
          <p:nvPr/>
        </p:nvCxnSpPr>
        <p:spPr>
          <a:xfrm>
            <a:off x="4950436" y="1152699"/>
            <a:ext cx="0" cy="56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6">
            <a:extLst>
              <a:ext uri="{FF2B5EF4-FFF2-40B4-BE49-F238E27FC236}">
                <a16:creationId xmlns:a16="http://schemas.microsoft.com/office/drawing/2014/main" id="{6310F0D4-4825-FE5F-B020-B8B1BE79406F}"/>
              </a:ext>
            </a:extLst>
          </p:cNvPr>
          <p:cNvCxnSpPr>
            <a:cxnSpLocks/>
          </p:cNvCxnSpPr>
          <p:nvPr/>
        </p:nvCxnSpPr>
        <p:spPr>
          <a:xfrm>
            <a:off x="340844" y="1528464"/>
            <a:ext cx="45335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표 38">
            <a:extLst>
              <a:ext uri="{FF2B5EF4-FFF2-40B4-BE49-F238E27FC236}">
                <a16:creationId xmlns:a16="http://schemas.microsoft.com/office/drawing/2014/main" id="{4046BAED-4E68-7EFB-BF1E-3101A4B3C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329767"/>
              </p:ext>
            </p:extLst>
          </p:nvPr>
        </p:nvGraphicFramePr>
        <p:xfrm>
          <a:off x="200460" y="1585113"/>
          <a:ext cx="4681107" cy="108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17">
                  <a:extLst>
                    <a:ext uri="{9D8B030D-6E8A-4147-A177-3AD203B41FA5}">
                      <a16:colId xmlns:a16="http://schemas.microsoft.com/office/drawing/2014/main" val="1564705972"/>
                    </a:ext>
                  </a:extLst>
                </a:gridCol>
                <a:gridCol w="877844">
                  <a:extLst>
                    <a:ext uri="{9D8B030D-6E8A-4147-A177-3AD203B41FA5}">
                      <a16:colId xmlns:a16="http://schemas.microsoft.com/office/drawing/2014/main" val="3919362187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3500366764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454492340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2905410193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208640552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3438922690"/>
                    </a:ext>
                  </a:extLst>
                </a:gridCol>
                <a:gridCol w="599291">
                  <a:extLst>
                    <a:ext uri="{9D8B030D-6E8A-4147-A177-3AD203B41FA5}">
                      <a16:colId xmlns:a16="http://schemas.microsoft.com/office/drawing/2014/main" val="3119716159"/>
                    </a:ext>
                  </a:extLst>
                </a:gridCol>
              </a:tblGrid>
              <a:tr h="47979">
                <a:tc rowSpan="3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pc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천톤</a:t>
                      </a:r>
                      <a:r>
                        <a:rPr lang="en-US" altLang="ko-KR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18778"/>
                  </a:ext>
                </a:extLst>
              </a:tr>
              <a:tr h="2789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061286"/>
                  </a:ext>
                </a:extLst>
              </a:tr>
              <a:tr h="216604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lang="en-US" altLang="ko-KR" sz="1200" spc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spc="0">
                          <a:solidFill>
                            <a:schemeClr val="tx1"/>
                          </a:solidFill>
                        </a:rPr>
                        <a:t>전망</a:t>
                      </a:r>
                      <a:r>
                        <a:rPr lang="en-US" altLang="ko-KR" sz="1200" spc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351262"/>
                  </a:ext>
                </a:extLst>
              </a:tr>
              <a:tr h="1950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생   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13070"/>
                  </a:ext>
                </a:extLst>
              </a:tr>
              <a:tr h="1950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판   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807934"/>
                  </a:ext>
                </a:extLst>
              </a:tr>
              <a:tr h="20084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내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388423"/>
                  </a:ext>
                </a:extLst>
              </a:tr>
              <a:tr h="20084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   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32352"/>
                  </a:ext>
                </a:extLst>
              </a:tr>
            </a:tbl>
          </a:graphicData>
        </a:graphic>
      </p:graphicFrame>
      <p:graphicFrame>
        <p:nvGraphicFramePr>
          <p:cNvPr id="28" name="표 38">
            <a:extLst>
              <a:ext uri="{FF2B5EF4-FFF2-40B4-BE49-F238E27FC236}">
                <a16:creationId xmlns:a16="http://schemas.microsoft.com/office/drawing/2014/main" id="{6CC826B9-77A3-2C16-13AE-E5E25122E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806243"/>
              </p:ext>
            </p:extLst>
          </p:nvPr>
        </p:nvGraphicFramePr>
        <p:xfrm>
          <a:off x="199973" y="4191417"/>
          <a:ext cx="4681597" cy="137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39">
                  <a:extLst>
                    <a:ext uri="{9D8B030D-6E8A-4147-A177-3AD203B41FA5}">
                      <a16:colId xmlns:a16="http://schemas.microsoft.com/office/drawing/2014/main" val="156470597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275540020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3500366764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454492340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2905410193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208640552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3438922690"/>
                    </a:ext>
                  </a:extLst>
                </a:gridCol>
                <a:gridCol w="600163">
                  <a:extLst>
                    <a:ext uri="{9D8B030D-6E8A-4147-A177-3AD203B41FA5}">
                      <a16:colId xmlns:a16="http://schemas.microsoft.com/office/drawing/2014/main" val="3119716159"/>
                    </a:ext>
                  </a:extLst>
                </a:gridCol>
              </a:tblGrid>
              <a:tr h="52336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18778"/>
                  </a:ext>
                </a:extLst>
              </a:tr>
              <a:tr h="174454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lang="en-US" altLang="ko-KR" sz="1200" spc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spc="0">
                          <a:solidFill>
                            <a:schemeClr val="tx1"/>
                          </a:solidFill>
                        </a:rPr>
                        <a:t>전망</a:t>
                      </a:r>
                      <a:r>
                        <a:rPr lang="en-US" altLang="ko-KR" sz="1200" spc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spc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351262"/>
                  </a:ext>
                </a:extLst>
              </a:tr>
              <a:tr h="19189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매 출 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13070"/>
                  </a:ext>
                </a:extLst>
              </a:tr>
              <a:tr h="19189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영업이익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388423"/>
                  </a:ext>
                </a:extLst>
              </a:tr>
              <a:tr h="191899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미얀마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82011"/>
                  </a:ext>
                </a:extLst>
              </a:tr>
              <a:tr h="19189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순 이 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32352"/>
                  </a:ext>
                </a:extLst>
              </a:tr>
              <a:tr h="1918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3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K P I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3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(%,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천톤</a:t>
                      </a:r>
                      <a:r>
                        <a:rPr lang="en-US" altLang="ko-KR" sz="1000" b="0" kern="1200" spc="-13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수출비중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171957"/>
                  </a:ext>
                </a:extLst>
              </a:tr>
              <a:tr h="1918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3600" marB="36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개발연계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532269"/>
                  </a:ext>
                </a:extLst>
              </a:tr>
            </a:tbl>
          </a:graphicData>
        </a:graphic>
      </p:graphicFrame>
      <p:cxnSp>
        <p:nvCxnSpPr>
          <p:cNvPr id="29" name="직선 연결선 9">
            <a:extLst>
              <a:ext uri="{FF2B5EF4-FFF2-40B4-BE49-F238E27FC236}">
                <a16:creationId xmlns:a16="http://schemas.microsoft.com/office/drawing/2014/main" id="{1DF0CDB4-3EEF-AA3E-AEB2-DC4916C495B3}"/>
              </a:ext>
            </a:extLst>
          </p:cNvPr>
          <p:cNvCxnSpPr>
            <a:cxnSpLocks/>
          </p:cNvCxnSpPr>
          <p:nvPr/>
        </p:nvCxnSpPr>
        <p:spPr>
          <a:xfrm>
            <a:off x="340844" y="4130384"/>
            <a:ext cx="45335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사각형: 둥근 한쪽 모서리 12">
            <a:extLst>
              <a:ext uri="{FF2B5EF4-FFF2-40B4-BE49-F238E27FC236}">
                <a16:creationId xmlns:a16="http://schemas.microsoft.com/office/drawing/2014/main" id="{B4187814-B46A-8C0D-4C66-3B8A6A36136C}"/>
              </a:ext>
            </a:extLst>
          </p:cNvPr>
          <p:cNvSpPr/>
          <p:nvPr/>
        </p:nvSpPr>
        <p:spPr>
          <a:xfrm>
            <a:off x="200460" y="1213080"/>
            <a:ext cx="2880000" cy="324909"/>
          </a:xfrm>
          <a:prstGeom prst="round1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/>
              <a:t>생산 </a:t>
            </a:r>
            <a:r>
              <a:rPr lang="en-US" altLang="ko-KR" sz="1400" b="1" dirty="0"/>
              <a:t>· </a:t>
            </a:r>
            <a:r>
              <a:rPr lang="ko-KR" altLang="en-US" sz="1400" b="1" dirty="0"/>
              <a:t>판매 실적</a:t>
            </a:r>
          </a:p>
        </p:txBody>
      </p:sp>
      <p:sp>
        <p:nvSpPr>
          <p:cNvPr id="31" name="사각형: 둥근 한쪽 모서리 12">
            <a:extLst>
              <a:ext uri="{FF2B5EF4-FFF2-40B4-BE49-F238E27FC236}">
                <a16:creationId xmlns:a16="http://schemas.microsoft.com/office/drawing/2014/main" id="{28B838AC-E17A-6612-13EC-D0F125A44719}"/>
              </a:ext>
            </a:extLst>
          </p:cNvPr>
          <p:cNvSpPr/>
          <p:nvPr/>
        </p:nvSpPr>
        <p:spPr>
          <a:xfrm>
            <a:off x="200460" y="3815000"/>
            <a:ext cx="2880000" cy="324909"/>
          </a:xfrm>
          <a:prstGeom prst="round1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/>
              <a:t>경영 실적 및 주요 </a:t>
            </a:r>
            <a:r>
              <a:rPr lang="ko-KR" altLang="en-US" sz="1400" b="1" dirty="0" err="1"/>
              <a:t>관리지표</a:t>
            </a:r>
            <a:endParaRPr lang="ko-KR" altLang="en-US" sz="14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6E424D-6FC6-774E-83DE-1754F8F6777A}"/>
              </a:ext>
            </a:extLst>
          </p:cNvPr>
          <p:cNvSpPr/>
          <p:nvPr/>
        </p:nvSpPr>
        <p:spPr>
          <a:xfrm>
            <a:off x="190664" y="2729369"/>
            <a:ext cx="4673808" cy="199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fontAlgn="base" latinLnBrk="0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ㅇㅇㅇ</a:t>
            </a:r>
            <a:endParaRPr lang="en-US" altLang="ko-KR" sz="1000" kern="0" spc="-3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7B9A0CC-E1B0-8C9E-118C-912DCDB88711}"/>
              </a:ext>
            </a:extLst>
          </p:cNvPr>
          <p:cNvSpPr/>
          <p:nvPr/>
        </p:nvSpPr>
        <p:spPr>
          <a:xfrm>
            <a:off x="190280" y="5621896"/>
            <a:ext cx="4825132" cy="111860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fontAlgn="base">
              <a:lnSpc>
                <a:spcPct val="130000"/>
              </a:lnSpc>
              <a:spcAft>
                <a:spcPts val="300"/>
              </a:spcAft>
              <a:defRPr/>
            </a:pPr>
            <a:r>
              <a:rPr lang="ko-KR" altLang="en-US" sz="1200" b="1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ㅇㅇㅇ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4314990"/>
      </p:ext>
    </p:extLst>
  </p:cSld>
  <p:clrMapOvr>
    <a:masterClrMapping/>
  </p:clrMapOvr>
</p:sld>
</file>

<file path=ppt/theme/theme1.xml><?xml version="1.0" encoding="utf-8"?>
<a:theme xmlns:a="http://schemas.openxmlformats.org/drawingml/2006/main" name="1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ctr" defTabSz="914325" rtl="0" eaLnBrk="1" fontAlgn="auto" latinLnBrk="1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kern="1200" cap="none" spc="0" normalizeH="0" baseline="0" noProof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90708</TotalTime>
  <Words>186</Words>
  <Application>Microsoft Macintosh PowerPoint</Application>
  <PresentationFormat>A4 용지(210x297mm)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HY헤드라인M</vt:lpstr>
      <vt:lpstr>Arial</vt:lpstr>
      <vt:lpstr>Wingdings</vt:lpstr>
      <vt:lpstr>19_Office 테마</vt:lpstr>
      <vt:lpstr>PowerPoint 프레젠테이션</vt:lpstr>
    </vt:vector>
  </TitlesOfParts>
  <Company>POSCO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poscouser</dc:creator>
  <cp:lastModifiedBy>유구봉(Goo-Bong Yoo)_교수_DX교육섹션</cp:lastModifiedBy>
  <cp:revision>8752</cp:revision>
  <cp:lastPrinted>2025-01-13T05:39:39Z</cp:lastPrinted>
  <dcterms:created xsi:type="dcterms:W3CDTF">2011-11-14T07:22:33Z</dcterms:created>
  <dcterms:modified xsi:type="dcterms:W3CDTF">2026-05-28T01:35:04Z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NSwgIm5vZGUxIiA6IHsiZHNkIjoiMDEwMDAwMDAwMDAwMjQzMiIsImxvZ1RpbWUiOiIyMDI1LTEyLTI5VDA1OjQyOjA2WiIsInBJRCI6IjIiLCJ0cmFjZUlkIjoiM0E2NkIwQ0E4RDY3NEQzNjBERDhGNTY5MDE5QURDNUYiLCJ1c2VyQ29kZSI6Imluc2lnaHQifSwibm9kZTIiIDogeyJkc2QiOiIwMTAwMDAwMDAwMDAyNDMyIiwibG9nVGltZSI6IjIwMjUtMTItMjlUMDU6NDQ6MzJaIiwicElEIjoyLCJ0cmFjZUlkIjoiQTQwNjk3QUJCNTVENERBNTg3QzNFNzU3NDQ1RUYwREIiLCJ1c2VyQ29kZSI6Imluc2lnaHQifSwibm9kZTMiIDogeyJkc2QiOiIwMTAwMDAwMDAwMDAyNDMyIiwibG9nVGltZSI6IjIwMjYtMDEtMDZUMjM6NDM6NTVaIiwicElEIjoyLCJwcm9jZXNzTmFtZSI6IlBPV0VSUE5ULkVYRSIsInRyYWNlSWQiOiIxQTZCNjVGNjc1MzA0ODIyOUU0MjYyMzU1MzkyN0IzMSIsInVzZXJDb2RlIjoic2prd29uIn0sIm5vZGU0IiA6IHsiZHNkIjoiMDEwMDAwMDAwMDAwMjQzMiIsImxvZ1RpbWUiOiIyMDI2LTAxLTA4VDA0OjE0OjUxWiIsInBJRCI6MiwicHJvY2Vzc0lkIjo2NTUyLCJwcm9jZXNzTmFtZSI6IlBPV0VSUE5ULkVYRSIsInRyYWNlSWQiOiI3Mzg4MDRFNkQ4MEU0QjJFOTZCRjUxMkQ0NTU0OENDMCIsInVzZXJDb2RlIjoiaHVlbmcifSwibm9kZTUiIDogeyAidXNlckNvZGUiIDogIiIsICJ0cmFjZUlkIiA6ICI1QzgxMjBCMTIxOUE1NDdCNjA1OUNGMkE0RkFDMjQxMiIsICJkc2QiOiIwMDAwMDAwMDAwMDAwMDAwIiwibG9nVGltZSI6IjIwMjYtMDUtMjdUMDY6MjE6MTBaIiwicElEIiA6IDIwNDgsICJsb2dUaW1lIiA6ICIyMDI2LTA1LTI3VDA2OjIxOjEwWiIgfX0=</vt:lpwstr>
  </property>
</Properties>
</file>